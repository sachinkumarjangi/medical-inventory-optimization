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6" r:id="rId30"/>
    <p:sldId id="284" r:id="rId31"/>
    <p:sldId id="285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Name – </a:t>
            </a:r>
            <a:r>
              <a:rPr lang="en-US" sz="2400" b="1" dirty="0" err="1" smtClean="0">
                <a:solidFill>
                  <a:schemeClr val="tx1"/>
                </a:solidFill>
              </a:rPr>
              <a:t>Sachin</a:t>
            </a:r>
            <a:r>
              <a:rPr lang="en-US" sz="2400" b="1" dirty="0" smtClean="0">
                <a:solidFill>
                  <a:schemeClr val="tx1"/>
                </a:solidFill>
              </a:rPr>
              <a:t> Kumar </a:t>
            </a:r>
            <a:r>
              <a:rPr lang="en-US" sz="2400" b="1" dirty="0" err="1" smtClean="0">
                <a:solidFill>
                  <a:schemeClr val="tx1"/>
                </a:solidFill>
              </a:rPr>
              <a:t>Jangir</a:t>
            </a:r>
            <a:endParaRPr lang="en-US" sz="2400" b="1" dirty="0" smtClean="0">
              <a:solidFill>
                <a:schemeClr val="tx1"/>
              </a:solidFill>
            </a:endParaRPr>
          </a:p>
          <a:p>
            <a:r>
              <a:rPr lang="en-US" sz="2400" b="1" dirty="0" smtClean="0">
                <a:solidFill>
                  <a:schemeClr val="tx1"/>
                </a:solidFill>
              </a:rPr>
              <a:t>Data </a:t>
            </a:r>
            <a:r>
              <a:rPr lang="en-US" sz="2400" b="1" dirty="0" smtClean="0">
                <a:solidFill>
                  <a:schemeClr val="tx1"/>
                </a:solidFill>
              </a:rPr>
              <a:t>Analysis –</a:t>
            </a:r>
            <a:r>
              <a:rPr lang="en-US" sz="2400" b="1" dirty="0" err="1" smtClean="0">
                <a:solidFill>
                  <a:schemeClr val="tx1"/>
                </a:solidFill>
              </a:rPr>
              <a:t>MedCure</a:t>
            </a: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b="1" dirty="0" err="1" smtClean="0">
                <a:solidFill>
                  <a:schemeClr val="tx1"/>
                </a:solidFill>
              </a:rPr>
              <a:t>Pharma</a:t>
            </a:r>
            <a:r>
              <a:rPr lang="en-US" sz="2400" b="1" dirty="0" smtClean="0">
                <a:solidFill>
                  <a:schemeClr val="tx1"/>
                </a:solidFill>
              </a:rPr>
              <a:t> Pvt. Ltd</a:t>
            </a:r>
          </a:p>
          <a:p>
            <a:endParaRPr lang="en-US" dirty="0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04800"/>
            <a:ext cx="6629400" cy="2979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0480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Dash-Board 1</a:t>
            </a:r>
            <a:endParaRPr lang="en-US" dirty="0"/>
          </a:p>
        </p:txBody>
      </p:sp>
      <p:pic>
        <p:nvPicPr>
          <p:cNvPr id="4" name="Picture 3" descr="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8" y="906561"/>
            <a:ext cx="9030483" cy="50448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066800"/>
            <a:ext cx="81533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Net Sales Trend:</a:t>
            </a:r>
          </a:p>
          <a:p>
            <a:pPr algn="just"/>
            <a:r>
              <a:rPr lang="en-US" dirty="0" smtClean="0"/>
              <a:t>• Shows monthly sales pattern with seasonal fluctuations.</a:t>
            </a:r>
          </a:p>
          <a:p>
            <a:pPr algn="just"/>
            <a:r>
              <a:rPr lang="en-US" dirty="0" smtClean="0"/>
              <a:t>• Dips indicate reduced demand or higher returns.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Total Sales </a:t>
            </a:r>
            <a:r>
              <a:rPr lang="en-US" dirty="0" err="1" smtClean="0"/>
              <a:t>vs</a:t>
            </a:r>
            <a:r>
              <a:rPr lang="en-US" dirty="0" smtClean="0"/>
              <a:t> Returns:</a:t>
            </a:r>
          </a:p>
          <a:p>
            <a:pPr algn="just"/>
            <a:r>
              <a:rPr lang="en-US" dirty="0" smtClean="0"/>
              <a:t>• Returns remain low and controlled.</a:t>
            </a:r>
          </a:p>
          <a:p>
            <a:pPr algn="just"/>
            <a:r>
              <a:rPr lang="en-US" dirty="0" smtClean="0"/>
              <a:t>• One spike suggests potential batch or storage issue.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Sales </a:t>
            </a:r>
            <a:r>
              <a:rPr lang="en-US" dirty="0" err="1" smtClean="0"/>
              <a:t>vs</a:t>
            </a:r>
            <a:r>
              <a:rPr lang="en-US" dirty="0" smtClean="0"/>
              <a:t> Return Distribution:</a:t>
            </a:r>
          </a:p>
          <a:p>
            <a:pPr algn="just"/>
            <a:r>
              <a:rPr lang="en-US" dirty="0" smtClean="0"/>
              <a:t>• Return percentage within safe industry limits.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Top Returned Products:</a:t>
            </a:r>
          </a:p>
          <a:p>
            <a:pPr algn="just"/>
            <a:r>
              <a:rPr lang="en-US" dirty="0" smtClean="0"/>
              <a:t>• Few SKUs cause majority of returns → QC or vendor review needed.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Department-wise Sales:</a:t>
            </a:r>
          </a:p>
          <a:p>
            <a:pPr algn="just"/>
            <a:r>
              <a:rPr lang="en-US" dirty="0" smtClean="0"/>
              <a:t>• One/two departments dominate revenue → optimize stock accordingly.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SALES BY DATE 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990600"/>
            <a:ext cx="5257800" cy="18899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62200" y="381000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Final Sales By Date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09601" y="3505200"/>
            <a:ext cx="8001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Overall Sales Pattern</a:t>
            </a:r>
          </a:p>
          <a:p>
            <a:pPr algn="just"/>
            <a:r>
              <a:rPr lang="en-US" dirty="0" smtClean="0"/>
              <a:t>The daily sales fluctuate heavily throughout the year — this indicates a </a:t>
            </a:r>
            <a:r>
              <a:rPr lang="en-US" b="1" dirty="0" smtClean="0"/>
              <a:t>high-volume operation with consistent daily activity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Sales rarely drop to zero, suggesting </a:t>
            </a:r>
            <a:r>
              <a:rPr lang="en-US" b="1" dirty="0" smtClean="0"/>
              <a:t>continuous daily transactions</a:t>
            </a:r>
            <a:r>
              <a:rPr lang="en-US" dirty="0" smtClean="0"/>
              <a:t> without major operational shutdowns.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228600"/>
            <a:ext cx="822960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Seasonal &amp; Monthly Behavior</a:t>
            </a:r>
          </a:p>
          <a:p>
            <a:pPr algn="just"/>
            <a:r>
              <a:rPr lang="en-US" b="1" dirty="0" smtClean="0"/>
              <a:t>Jan–Mar 2022: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Stable mid-range daily sales, with occasional peaks above 1M. This may reflect the </a:t>
            </a:r>
            <a:r>
              <a:rPr lang="en-US" b="1" dirty="0" smtClean="0"/>
              <a:t>post-season medical demand increase</a:t>
            </a:r>
            <a:r>
              <a:rPr lang="en-US" dirty="0" smtClean="0"/>
              <a:t> at the start of the year.</a:t>
            </a:r>
          </a:p>
          <a:p>
            <a:pPr algn="just"/>
            <a:r>
              <a:rPr lang="en-US" b="1" dirty="0" smtClean="0"/>
              <a:t>Apr–Jun 2022: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Noticeable rise in spikes, suggesting </a:t>
            </a:r>
            <a:r>
              <a:rPr lang="en-US" b="1" dirty="0" smtClean="0"/>
              <a:t>higher outpatient volume or seasonal disease patterns</a:t>
            </a:r>
            <a:r>
              <a:rPr lang="en-US" dirty="0" smtClean="0"/>
              <a:t> (e.g., summer infections, dehydration, allergies).</a:t>
            </a:r>
          </a:p>
          <a:p>
            <a:pPr algn="just"/>
            <a:r>
              <a:rPr lang="en-US" b="1" dirty="0" smtClean="0"/>
              <a:t>Jul 2022: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 visible </a:t>
            </a:r>
            <a:r>
              <a:rPr lang="en-US" b="1" dirty="0" smtClean="0"/>
              <a:t>peak spike crossing 1.5M</a:t>
            </a:r>
            <a:r>
              <a:rPr lang="en-US" dirty="0" smtClean="0"/>
              <a:t>, marking one of the </a:t>
            </a:r>
            <a:r>
              <a:rPr lang="en-US" b="1" dirty="0" smtClean="0"/>
              <a:t>highest sales days</a:t>
            </a:r>
            <a:r>
              <a:rPr lang="en-US" dirty="0" smtClean="0"/>
              <a:t> of the year — this may be due to:</a:t>
            </a:r>
          </a:p>
          <a:p>
            <a:pPr lvl="1" algn="just"/>
            <a:r>
              <a:rPr lang="en-US" dirty="0" smtClean="0"/>
              <a:t>Bulk institutional purchase</a:t>
            </a:r>
          </a:p>
          <a:p>
            <a:pPr lvl="1" algn="just"/>
            <a:r>
              <a:rPr lang="en-US" dirty="0" smtClean="0"/>
              <a:t>High-value prescriptions</a:t>
            </a:r>
          </a:p>
          <a:p>
            <a:pPr lvl="1" algn="just"/>
            <a:r>
              <a:rPr lang="en-US" dirty="0" smtClean="0"/>
              <a:t>Seasonal outbreak</a:t>
            </a:r>
          </a:p>
          <a:p>
            <a:pPr algn="just"/>
            <a:r>
              <a:rPr lang="en-US" b="1" dirty="0" smtClean="0"/>
              <a:t>Aug–Dec 2022: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Sales remain </a:t>
            </a:r>
            <a:r>
              <a:rPr lang="en-US" b="1" dirty="0" smtClean="0"/>
              <a:t>stable but more volatile</a:t>
            </a:r>
            <a:r>
              <a:rPr lang="en-US" dirty="0" smtClean="0"/>
              <a:t>, indicating:</a:t>
            </a:r>
          </a:p>
          <a:p>
            <a:pPr lvl="1" algn="just"/>
            <a:r>
              <a:rPr lang="en-US" dirty="0" smtClean="0"/>
              <a:t>Higher mix of OPD/IPD cases</a:t>
            </a:r>
          </a:p>
          <a:p>
            <a:pPr lvl="1" algn="just"/>
            <a:r>
              <a:rPr lang="en-US" dirty="0" smtClean="0"/>
              <a:t>More variation in prescription values</a:t>
            </a:r>
          </a:p>
          <a:p>
            <a:pPr lvl="1" algn="just"/>
            <a:r>
              <a:rPr lang="en-US" dirty="0" smtClean="0"/>
              <a:t>Potential festival-season fluctuations</a:t>
            </a:r>
          </a:p>
          <a:p>
            <a:pPr algn="just"/>
            <a:r>
              <a:rPr lang="en-US" b="1" dirty="0" smtClean="0"/>
              <a:t>Trend </a:t>
            </a:r>
            <a:r>
              <a:rPr lang="en-US" b="1" dirty="0" smtClean="0"/>
              <a:t>Stability</a:t>
            </a:r>
          </a:p>
          <a:p>
            <a:pPr algn="just"/>
            <a:r>
              <a:rPr lang="en-US" dirty="0" smtClean="0"/>
              <a:t>Despite ups and downs, the </a:t>
            </a:r>
            <a:r>
              <a:rPr lang="en-US" b="1" dirty="0" smtClean="0"/>
              <a:t>average sales line stays steady</a:t>
            </a:r>
            <a:r>
              <a:rPr lang="en-US" dirty="0" smtClean="0"/>
              <a:t> across the year.</a:t>
            </a:r>
          </a:p>
          <a:p>
            <a:pPr algn="just"/>
            <a:r>
              <a:rPr lang="en-US" dirty="0" smtClean="0"/>
              <a:t>This means the business has </a:t>
            </a:r>
            <a:r>
              <a:rPr lang="en-US" b="1" dirty="0" smtClean="0"/>
              <a:t>consistent revenue generation</a:t>
            </a:r>
            <a:r>
              <a:rPr lang="en-US" dirty="0" smtClean="0"/>
              <a:t> with no long-term decline.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533400"/>
            <a:ext cx="7848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Business Interpretation</a:t>
            </a:r>
          </a:p>
          <a:p>
            <a:pPr algn="just"/>
            <a:r>
              <a:rPr lang="en-US" b="1" dirty="0" smtClean="0"/>
              <a:t>High volatility</a:t>
            </a:r>
            <a:r>
              <a:rPr lang="en-US" dirty="0" smtClean="0"/>
              <a:t> suggests the mix of medicines sold varies significantly day-to-day.</a:t>
            </a:r>
          </a:p>
          <a:p>
            <a:pPr algn="just"/>
            <a:r>
              <a:rPr lang="en-US" b="1" dirty="0" smtClean="0"/>
              <a:t>Stable overall performance</a:t>
            </a:r>
            <a:r>
              <a:rPr lang="en-US" dirty="0" smtClean="0"/>
              <a:t> indicates a mature, steady customer/patient base.</a:t>
            </a:r>
          </a:p>
          <a:p>
            <a:pPr algn="just"/>
            <a:r>
              <a:rPr lang="en-US" b="1" dirty="0" smtClean="0"/>
              <a:t>Seasonal peaks</a:t>
            </a:r>
            <a:r>
              <a:rPr lang="en-US" dirty="0" smtClean="0"/>
              <a:t> align with typical medical demand increases across monsoon and winter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2438400"/>
            <a:ext cx="769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Final Sales By Return-MRP And Date</a:t>
            </a:r>
            <a:endParaRPr lang="en-US" sz="2400" b="1" dirty="0"/>
          </a:p>
        </p:txBody>
      </p:sp>
      <p:pic>
        <p:nvPicPr>
          <p:cNvPr id="4" name="Picture 3" descr="FINALSALES RTNMRP BY 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00400"/>
            <a:ext cx="457200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09601"/>
            <a:ext cx="8382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Overall Trend</a:t>
            </a:r>
          </a:p>
          <a:p>
            <a:pPr algn="just"/>
            <a:r>
              <a:rPr lang="en-US" dirty="0" smtClean="0"/>
              <a:t>Final Sales show </a:t>
            </a:r>
            <a:r>
              <a:rPr lang="en-US" b="1" dirty="0" smtClean="0"/>
              <a:t>high and consistent daily activity</a:t>
            </a:r>
            <a:r>
              <a:rPr lang="en-US" dirty="0" smtClean="0"/>
              <a:t>, usually ranging between </a:t>
            </a:r>
            <a:r>
              <a:rPr lang="en-US" b="1" dirty="0" smtClean="0"/>
              <a:t>0.5M – 1.2M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Return MRP (</a:t>
            </a:r>
            <a:r>
              <a:rPr lang="en-US" dirty="0" err="1" smtClean="0"/>
              <a:t>RtnMRP</a:t>
            </a:r>
            <a:r>
              <a:rPr lang="en-US" dirty="0" smtClean="0"/>
              <a:t>) stays </a:t>
            </a:r>
            <a:r>
              <a:rPr lang="en-US" b="1" dirty="0" smtClean="0"/>
              <a:t>very low compared to sales</a:t>
            </a:r>
            <a:r>
              <a:rPr lang="en-US" dirty="0" smtClean="0"/>
              <a:t>, mostly between </a:t>
            </a:r>
            <a:r>
              <a:rPr lang="en-US" b="1" dirty="0" smtClean="0"/>
              <a:t>0.1M – 0.2M</a:t>
            </a:r>
            <a:r>
              <a:rPr lang="en-US" dirty="0" smtClean="0"/>
              <a:t>, which is a </a:t>
            </a:r>
            <a:r>
              <a:rPr lang="en-US" b="1" dirty="0" smtClean="0"/>
              <a:t>healthy return ratio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Sales </a:t>
            </a:r>
            <a:r>
              <a:rPr lang="en-US" b="1" dirty="0" err="1" smtClean="0"/>
              <a:t>Behaviour</a:t>
            </a:r>
            <a:endParaRPr lang="en-US" b="1" dirty="0" smtClean="0"/>
          </a:p>
          <a:p>
            <a:pPr algn="just"/>
            <a:r>
              <a:rPr lang="en-US" dirty="0" smtClean="0"/>
              <a:t>Regular peaks above </a:t>
            </a:r>
            <a:r>
              <a:rPr lang="en-US" b="1" dirty="0" smtClean="0"/>
              <a:t>1M</a:t>
            </a:r>
            <a:r>
              <a:rPr lang="en-US" dirty="0" smtClean="0"/>
              <a:t> indicate strong daily transactions.</a:t>
            </a:r>
          </a:p>
          <a:p>
            <a:pPr algn="just"/>
            <a:r>
              <a:rPr lang="en-US" dirty="0" smtClean="0"/>
              <a:t>A major spike touching </a:t>
            </a:r>
            <a:r>
              <a:rPr lang="en-US" b="1" dirty="0" smtClean="0"/>
              <a:t>1.5M in July 2022</a:t>
            </a:r>
            <a:r>
              <a:rPr lang="en-US" dirty="0" smtClean="0"/>
              <a:t> marks the </a:t>
            </a:r>
            <a:r>
              <a:rPr lang="en-US" b="1" dirty="0" smtClean="0"/>
              <a:t>highest sales day of the year</a:t>
            </a:r>
            <a:r>
              <a:rPr lang="en-US" dirty="0" smtClean="0"/>
              <a:t>, possibly due to:</a:t>
            </a:r>
          </a:p>
          <a:p>
            <a:pPr lvl="1" algn="just"/>
            <a:r>
              <a:rPr lang="en-US" dirty="0" smtClean="0"/>
              <a:t>Institutional or bulk order</a:t>
            </a:r>
          </a:p>
          <a:p>
            <a:pPr lvl="1" algn="just"/>
            <a:r>
              <a:rPr lang="en-US" dirty="0" smtClean="0"/>
              <a:t>High-value medication sales</a:t>
            </a:r>
          </a:p>
          <a:p>
            <a:pPr lvl="1" algn="just"/>
            <a:r>
              <a:rPr lang="en-US" dirty="0" smtClean="0"/>
              <a:t>Seasonal health surge (monsoon-related diseases)</a:t>
            </a:r>
          </a:p>
          <a:p>
            <a:pPr algn="just"/>
            <a:r>
              <a:rPr lang="en-US" dirty="0" smtClean="0"/>
              <a:t>End-of-year period (Oct–Dec) shows </a:t>
            </a:r>
            <a:r>
              <a:rPr lang="en-US" b="1" dirty="0" smtClean="0"/>
              <a:t>stable yet slightly improved sales</a:t>
            </a:r>
            <a:r>
              <a:rPr lang="en-US" dirty="0" smtClean="0"/>
              <a:t> compared to earlier months.</a:t>
            </a:r>
          </a:p>
          <a:p>
            <a:pPr algn="just"/>
            <a:r>
              <a:rPr lang="en-US" b="1" dirty="0" smtClean="0"/>
              <a:t>Return </a:t>
            </a:r>
            <a:r>
              <a:rPr lang="en-US" b="1" dirty="0" smtClean="0"/>
              <a:t>Trend (</a:t>
            </a:r>
            <a:r>
              <a:rPr lang="en-US" b="1" dirty="0" err="1" smtClean="0"/>
              <a:t>RtnMRP</a:t>
            </a:r>
            <a:r>
              <a:rPr lang="en-US" b="1" dirty="0" smtClean="0"/>
              <a:t>)</a:t>
            </a:r>
          </a:p>
          <a:p>
            <a:pPr algn="just"/>
            <a:r>
              <a:rPr lang="en-US" dirty="0" smtClean="0"/>
              <a:t>Returns stay </a:t>
            </a:r>
            <a:r>
              <a:rPr lang="en-US" b="1" dirty="0" smtClean="0"/>
              <a:t>very low and stable</a:t>
            </a:r>
            <a:r>
              <a:rPr lang="en-US" dirty="0" smtClean="0"/>
              <a:t>, rarely exceeding </a:t>
            </a:r>
            <a:r>
              <a:rPr lang="en-US" b="1" dirty="0" smtClean="0"/>
              <a:t>0.2M</a:t>
            </a:r>
            <a:r>
              <a:rPr lang="en-US" dirty="0" smtClean="0"/>
              <a:t>, indicating:</a:t>
            </a:r>
          </a:p>
          <a:p>
            <a:pPr lvl="1" algn="just"/>
            <a:r>
              <a:rPr lang="en-US" dirty="0" smtClean="0"/>
              <a:t>Strong prescription accuracy</a:t>
            </a:r>
          </a:p>
          <a:p>
            <a:pPr lvl="1" algn="just"/>
            <a:r>
              <a:rPr lang="en-US" dirty="0" smtClean="0"/>
              <a:t>Minimal dispensing errors</a:t>
            </a:r>
          </a:p>
          <a:p>
            <a:pPr lvl="1" algn="just"/>
            <a:r>
              <a:rPr lang="en-US" dirty="0" smtClean="0"/>
              <a:t>Good quality control of </a:t>
            </a:r>
            <a:r>
              <a:rPr lang="en-US" dirty="0" smtClean="0"/>
              <a:t>medicines</a:t>
            </a:r>
            <a:endParaRPr lang="en-US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924800" cy="5257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Occasional return spikes (e.g., 0.2M in mid-year) may be related to:</a:t>
            </a:r>
          </a:p>
          <a:p>
            <a:pPr lvl="1" algn="just"/>
            <a:r>
              <a:rPr lang="en-US" dirty="0" smtClean="0"/>
              <a:t>Expired/near-expiry stock returned</a:t>
            </a:r>
          </a:p>
          <a:p>
            <a:pPr lvl="1" algn="just"/>
            <a:r>
              <a:rPr lang="en-US" dirty="0" smtClean="0"/>
              <a:t>Batch quality issues</a:t>
            </a:r>
          </a:p>
          <a:p>
            <a:pPr lvl="1" algn="just"/>
            <a:r>
              <a:rPr lang="en-US" dirty="0" smtClean="0"/>
              <a:t>Patient order cancellations</a:t>
            </a:r>
          </a:p>
          <a:p>
            <a:pPr algn="just"/>
            <a:r>
              <a:rPr lang="en-US" b="1" dirty="0" smtClean="0"/>
              <a:t>Sales-to-Return </a:t>
            </a:r>
            <a:r>
              <a:rPr lang="en-US" b="1" dirty="0" smtClean="0"/>
              <a:t>Ratio</a:t>
            </a:r>
          </a:p>
          <a:p>
            <a:pPr algn="just"/>
            <a:r>
              <a:rPr lang="en-US" dirty="0" smtClean="0"/>
              <a:t>Ratio remains </a:t>
            </a:r>
            <a:r>
              <a:rPr lang="en-US" b="1" dirty="0" smtClean="0"/>
              <a:t>excellent</a:t>
            </a:r>
            <a:r>
              <a:rPr lang="en-US" dirty="0" smtClean="0"/>
              <a:t>, with returns forming </a:t>
            </a:r>
            <a:r>
              <a:rPr lang="en-US" b="1" dirty="0" smtClean="0"/>
              <a:t>&lt;10%</a:t>
            </a:r>
            <a:r>
              <a:rPr lang="en-US" dirty="0" smtClean="0"/>
              <a:t> of daily sales in most cases.</a:t>
            </a:r>
          </a:p>
          <a:p>
            <a:pPr algn="just"/>
            <a:r>
              <a:rPr lang="en-US" dirty="0" smtClean="0"/>
              <a:t>This indicates strong </a:t>
            </a:r>
            <a:r>
              <a:rPr lang="en-US" b="1" dirty="0" smtClean="0"/>
              <a:t>customer satisfaction</a:t>
            </a:r>
            <a:r>
              <a:rPr lang="en-US" dirty="0" smtClean="0"/>
              <a:t>, </a:t>
            </a:r>
            <a:r>
              <a:rPr lang="en-US" b="1" dirty="0" smtClean="0"/>
              <a:t>correct medication issuance</a:t>
            </a:r>
            <a:r>
              <a:rPr lang="en-US" dirty="0" smtClean="0"/>
              <a:t>, and </a:t>
            </a:r>
            <a:r>
              <a:rPr lang="en-US" b="1" dirty="0" smtClean="0"/>
              <a:t>efficient operational workflow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Seasonal </a:t>
            </a:r>
            <a:r>
              <a:rPr lang="en-US" b="1" dirty="0" smtClean="0"/>
              <a:t>Pattern</a:t>
            </a:r>
          </a:p>
          <a:p>
            <a:pPr algn="just"/>
            <a:r>
              <a:rPr lang="en-US" dirty="0" smtClean="0"/>
              <a:t>Sales rise during </a:t>
            </a:r>
            <a:r>
              <a:rPr lang="en-US" b="1" dirty="0" smtClean="0"/>
              <a:t>Jun–Aug</a:t>
            </a:r>
            <a:r>
              <a:rPr lang="en-US" dirty="0" smtClean="0"/>
              <a:t>, matching typical monsoon disease cycle.</a:t>
            </a:r>
          </a:p>
          <a:p>
            <a:pPr algn="just"/>
            <a:r>
              <a:rPr lang="en-US" dirty="0" smtClean="0"/>
              <a:t>Returns also see a minor rise during this period, which is normal due to:</a:t>
            </a:r>
          </a:p>
          <a:p>
            <a:pPr lvl="1" algn="just"/>
            <a:r>
              <a:rPr lang="en-US" dirty="0" smtClean="0"/>
              <a:t>Higher overall volume</a:t>
            </a:r>
          </a:p>
          <a:p>
            <a:pPr lvl="1" algn="just"/>
            <a:r>
              <a:rPr lang="en-US" dirty="0" smtClean="0"/>
              <a:t>More short-duration treatments with leftover medicines</a:t>
            </a:r>
          </a:p>
          <a:p>
            <a:pPr algn="just"/>
            <a:r>
              <a:rPr lang="en-US" b="1" dirty="0" smtClean="0"/>
              <a:t>Key </a:t>
            </a:r>
            <a:r>
              <a:rPr lang="en-US" b="1" dirty="0" smtClean="0"/>
              <a:t>Observations</a:t>
            </a:r>
          </a:p>
          <a:p>
            <a:pPr algn="just"/>
            <a:r>
              <a:rPr lang="en-US" b="1" dirty="0" smtClean="0"/>
              <a:t>Positive:</a:t>
            </a:r>
            <a:r>
              <a:rPr lang="en-US" dirty="0" smtClean="0"/>
              <a:t> High consistency in sales; minimal fluctuation in returns.</a:t>
            </a:r>
          </a:p>
          <a:p>
            <a:pPr algn="just"/>
            <a:r>
              <a:rPr lang="en-US" b="1" dirty="0" smtClean="0"/>
              <a:t>Risk Area:</a:t>
            </a:r>
            <a:r>
              <a:rPr lang="en-US" dirty="0" smtClean="0"/>
              <a:t> Occasional spikes in return value — should be checked for root cause.</a:t>
            </a:r>
          </a:p>
          <a:p>
            <a:pPr algn="just"/>
            <a:r>
              <a:rPr lang="en-US" b="1" dirty="0" smtClean="0"/>
              <a:t>Opportunity:</a:t>
            </a:r>
            <a:r>
              <a:rPr lang="en-US" dirty="0" smtClean="0"/>
              <a:t> Identify high-sales days and replicate contributing factors.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SALES BY DRUGNAME 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219200"/>
            <a:ext cx="3124200" cy="213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533400"/>
            <a:ext cx="853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Final Sales By </a:t>
            </a:r>
            <a:r>
              <a:rPr lang="en-US" sz="2400" b="1" dirty="0" err="1" smtClean="0"/>
              <a:t>DrugName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57201" y="3962401"/>
            <a:ext cx="8229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A </a:t>
            </a:r>
            <a:r>
              <a:rPr lang="en-US" b="1" dirty="0" smtClean="0"/>
              <a:t>Few Drugs Dominate Revenue</a:t>
            </a:r>
          </a:p>
          <a:p>
            <a:pPr algn="just"/>
            <a:r>
              <a:rPr lang="en-US" dirty="0" smtClean="0"/>
              <a:t>The top </a:t>
            </a:r>
            <a:r>
              <a:rPr lang="en-US" b="1" dirty="0" smtClean="0"/>
              <a:t>2–3 drugs (starting with “SOD I…”) contribute the highest share</a:t>
            </a:r>
            <a:r>
              <a:rPr lang="en-US" dirty="0" smtClean="0"/>
              <a:t> of total sales.</a:t>
            </a:r>
          </a:p>
          <a:p>
            <a:pPr algn="just"/>
            <a:r>
              <a:rPr lang="en-US" dirty="0" smtClean="0"/>
              <a:t>These appear to be </a:t>
            </a:r>
            <a:r>
              <a:rPr lang="en-US" b="1" dirty="0" smtClean="0"/>
              <a:t>Sodium-based </a:t>
            </a:r>
            <a:r>
              <a:rPr lang="en-US" b="1" dirty="0" err="1" smtClean="0"/>
              <a:t>injectables</a:t>
            </a:r>
            <a:r>
              <a:rPr lang="en-US" b="1" dirty="0" smtClean="0"/>
              <a:t> or formulations</a:t>
            </a:r>
            <a:r>
              <a:rPr lang="en-US" dirty="0" smtClean="0"/>
              <a:t>, which are likely </a:t>
            </a:r>
            <a:r>
              <a:rPr lang="en-US" b="1" dirty="0" smtClean="0"/>
              <a:t>high-demand, high-value </a:t>
            </a:r>
            <a:r>
              <a:rPr lang="en-US" b="1" dirty="0" smtClean="0"/>
              <a:t>products</a:t>
            </a:r>
            <a:r>
              <a:rPr lang="en-US" dirty="0" smtClean="0"/>
              <a:t>.</a:t>
            </a:r>
          </a:p>
          <a:p>
            <a:pPr algn="just"/>
            <a:r>
              <a:rPr lang="en-US" b="1" dirty="0" smtClean="0"/>
              <a:t>Sales </a:t>
            </a:r>
            <a:r>
              <a:rPr lang="en-US" b="1" dirty="0" smtClean="0"/>
              <a:t>Drop Significantly After the Top Performers</a:t>
            </a:r>
          </a:p>
          <a:p>
            <a:pPr algn="just"/>
            <a:r>
              <a:rPr lang="en-US" dirty="0" smtClean="0"/>
              <a:t>After the top 3 drugs, </a:t>
            </a:r>
            <a:r>
              <a:rPr lang="en-US" b="1" dirty="0" smtClean="0"/>
              <a:t>sales show a steep decline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Mid-tier drugs (PANT…, MULTI…, ONDA…) form a </a:t>
            </a:r>
            <a:r>
              <a:rPr lang="en-US" b="1" dirty="0" smtClean="0"/>
              <a:t>secondary cluster</a:t>
            </a:r>
            <a:r>
              <a:rPr lang="en-US" dirty="0" smtClean="0"/>
              <a:t>, contributing moderately but consistently.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7924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Long </a:t>
            </a:r>
            <a:r>
              <a:rPr lang="en-US" b="1" dirty="0" smtClean="0"/>
              <a:t>Tail of Low-Performing Drugs</a:t>
            </a:r>
          </a:p>
          <a:p>
            <a:r>
              <a:rPr lang="en-US" dirty="0" smtClean="0"/>
              <a:t>The last 5–6 drugs contribute </a:t>
            </a:r>
            <a:r>
              <a:rPr lang="en-US" b="1" dirty="0" smtClean="0"/>
              <a:t>very little compared to the top tier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suggests a </a:t>
            </a:r>
            <a:r>
              <a:rPr lang="en-US" b="1" dirty="0" smtClean="0"/>
              <a:t>Pareto pattern (80/20 rule)</a:t>
            </a:r>
            <a:r>
              <a:rPr lang="en-US" dirty="0" smtClean="0"/>
              <a:t> — a small number of drug SKUs drive the majority of revenue.</a:t>
            </a:r>
          </a:p>
          <a:p>
            <a:r>
              <a:rPr lang="en-US" b="1" dirty="0" smtClean="0"/>
              <a:t>Opportunity </a:t>
            </a:r>
            <a:r>
              <a:rPr lang="en-US" b="1" dirty="0" smtClean="0"/>
              <a:t>for SKU Optimization</a:t>
            </a:r>
          </a:p>
          <a:p>
            <a:r>
              <a:rPr lang="en-US" dirty="0" smtClean="0"/>
              <a:t>Low-volume drugs may be:</a:t>
            </a:r>
          </a:p>
          <a:p>
            <a:pPr lvl="1"/>
            <a:r>
              <a:rPr lang="en-US" dirty="0" smtClean="0"/>
              <a:t>Slow-moving or non-essential SKUs</a:t>
            </a:r>
          </a:p>
          <a:p>
            <a:pPr lvl="1"/>
            <a:r>
              <a:rPr lang="en-US" dirty="0" smtClean="0"/>
              <a:t>Candidates for </a:t>
            </a:r>
            <a:r>
              <a:rPr lang="en-US" b="1" dirty="0" smtClean="0"/>
              <a:t>inventory rationalization</a:t>
            </a:r>
            <a:endParaRPr lang="en-US" dirty="0" smtClean="0"/>
          </a:p>
          <a:p>
            <a:pPr lvl="1"/>
            <a:r>
              <a:rPr lang="en-US" dirty="0" smtClean="0"/>
              <a:t>Raising holding cost without strong return</a:t>
            </a:r>
          </a:p>
          <a:p>
            <a:r>
              <a:rPr lang="en-US" b="1" dirty="0" smtClean="0"/>
              <a:t>Focus </a:t>
            </a:r>
            <a:r>
              <a:rPr lang="en-US" b="1" dirty="0" smtClean="0"/>
              <a:t>Areas to Increase Revenue</a:t>
            </a:r>
          </a:p>
          <a:p>
            <a:r>
              <a:rPr lang="en-US" b="1" dirty="0" smtClean="0"/>
              <a:t>Stock availability:</a:t>
            </a:r>
            <a:r>
              <a:rPr lang="en-US" dirty="0" smtClean="0"/>
              <a:t> Ensure the high-performing SKUs are never out of stock.</a:t>
            </a:r>
          </a:p>
          <a:p>
            <a:r>
              <a:rPr lang="en-US" b="1" dirty="0" smtClean="0"/>
              <a:t>Supplier negotiation:</a:t>
            </a:r>
            <a:r>
              <a:rPr lang="en-US" dirty="0" smtClean="0"/>
              <a:t> Negotiate better purchase terms for the top-selling drugs.</a:t>
            </a:r>
          </a:p>
          <a:p>
            <a:r>
              <a:rPr lang="en-US" b="1" dirty="0" smtClean="0"/>
              <a:t>Demand forecasting:</a:t>
            </a:r>
            <a:r>
              <a:rPr lang="en-US" dirty="0" smtClean="0"/>
              <a:t> Forecast high-performing SKUs more aggressively, especially the “SOD” category.</a:t>
            </a:r>
          </a:p>
          <a:p>
            <a:r>
              <a:rPr lang="en-US" b="1" dirty="0" smtClean="0"/>
              <a:t>Investigate </a:t>
            </a:r>
            <a:r>
              <a:rPr lang="en-US" b="1" dirty="0" smtClean="0"/>
              <a:t>Why Mid-Tier Drugs Are Not Growing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 SALES BY DEPT 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838200"/>
            <a:ext cx="3048000" cy="2514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100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Final Sales By Dept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3505201"/>
            <a:ext cx="8001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One Department Dominates Revenue</a:t>
            </a:r>
          </a:p>
          <a:p>
            <a:pPr algn="just"/>
            <a:r>
              <a:rPr lang="en-US" dirty="0" smtClean="0"/>
              <a:t>The </a:t>
            </a:r>
            <a:r>
              <a:rPr lang="en-US" b="1" dirty="0" smtClean="0"/>
              <a:t>first department contributes almost the entire revenue</a:t>
            </a:r>
            <a:r>
              <a:rPr lang="en-US" dirty="0" smtClean="0"/>
              <a:t>, close to </a:t>
            </a:r>
            <a:r>
              <a:rPr lang="en-US" b="1" dirty="0" smtClean="0"/>
              <a:t>0.25 billion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This indicates a </a:t>
            </a:r>
            <a:r>
              <a:rPr lang="en-US" b="1" dirty="0" smtClean="0"/>
              <a:t>high dependence</a:t>
            </a:r>
            <a:r>
              <a:rPr lang="en-US" dirty="0" smtClean="0"/>
              <a:t> on a single department for business performance.</a:t>
            </a:r>
          </a:p>
          <a:p>
            <a:pPr algn="just"/>
            <a:r>
              <a:rPr lang="en-US" b="1" dirty="0" smtClean="0"/>
              <a:t>Second </a:t>
            </a:r>
            <a:r>
              <a:rPr lang="en-US" b="1" dirty="0" smtClean="0"/>
              <a:t>Department Generates Minimal Revenue</a:t>
            </a:r>
          </a:p>
          <a:p>
            <a:pPr algn="just"/>
            <a:r>
              <a:rPr lang="en-US" dirty="0" smtClean="0"/>
              <a:t>The second bar shows a </a:t>
            </a:r>
            <a:r>
              <a:rPr lang="en-US" b="1" dirty="0" smtClean="0"/>
              <a:t>small contribution</a:t>
            </a:r>
            <a:r>
              <a:rPr lang="en-US" dirty="0" smtClean="0"/>
              <a:t>, only a fraction compared to the first.</a:t>
            </a:r>
          </a:p>
          <a:p>
            <a:pPr algn="just"/>
            <a:r>
              <a:rPr lang="en-US" dirty="0" smtClean="0"/>
              <a:t>It may represent a department with niche or low-volume services/products.</a:t>
            </a:r>
          </a:p>
          <a:p>
            <a:pPr algn="just"/>
            <a:r>
              <a:rPr lang="en-US" b="1" dirty="0" smtClean="0"/>
              <a:t>Third </a:t>
            </a:r>
            <a:r>
              <a:rPr lang="en-US" b="1" dirty="0" smtClean="0"/>
              <a:t>Department Almost Negligible</a:t>
            </a:r>
          </a:p>
          <a:p>
            <a:pPr algn="just"/>
            <a:r>
              <a:rPr lang="en-US" dirty="0" smtClean="0"/>
              <a:t>The third department contributes </a:t>
            </a:r>
            <a:r>
              <a:rPr lang="en-US" b="1" dirty="0" smtClean="0"/>
              <a:t>near-zero sales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Possible reasons: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8001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dirty="0" smtClean="0"/>
              <a:t>The department is newly created</a:t>
            </a:r>
          </a:p>
          <a:p>
            <a:pPr lvl="1" algn="just"/>
            <a:r>
              <a:rPr lang="en-US" dirty="0" smtClean="0"/>
              <a:t>Very low footfall</a:t>
            </a:r>
          </a:p>
          <a:p>
            <a:pPr lvl="1" algn="just"/>
            <a:r>
              <a:rPr lang="en-US" dirty="0" smtClean="0"/>
              <a:t>Limited product/service range</a:t>
            </a:r>
          </a:p>
          <a:p>
            <a:pPr lvl="1" algn="just"/>
            <a:r>
              <a:rPr lang="en-US" dirty="0" smtClean="0"/>
              <a:t>Operational or supply constraints</a:t>
            </a:r>
          </a:p>
          <a:p>
            <a:pPr algn="just"/>
            <a:r>
              <a:rPr lang="en-US" b="1" dirty="0" smtClean="0"/>
              <a:t>High </a:t>
            </a:r>
            <a:r>
              <a:rPr lang="en-US" b="1" dirty="0" smtClean="0"/>
              <a:t>Concentration Risk</a:t>
            </a:r>
          </a:p>
          <a:p>
            <a:pPr algn="just"/>
            <a:r>
              <a:rPr lang="en-US" dirty="0" smtClean="0"/>
              <a:t>When 1 department drives ~90–95% of revenue, it creates:</a:t>
            </a:r>
          </a:p>
          <a:p>
            <a:pPr lvl="1" algn="just"/>
            <a:r>
              <a:rPr lang="en-US" b="1" dirty="0" smtClean="0"/>
              <a:t>Revenue vulnerability</a:t>
            </a:r>
            <a:endParaRPr lang="en-US" dirty="0" smtClean="0"/>
          </a:p>
          <a:p>
            <a:pPr lvl="1" algn="just"/>
            <a:r>
              <a:rPr lang="en-US" b="1" dirty="0" smtClean="0"/>
              <a:t>Risk of disruption</a:t>
            </a:r>
            <a:r>
              <a:rPr lang="en-US" dirty="0" smtClean="0"/>
              <a:t> if that department underperforms</a:t>
            </a:r>
          </a:p>
          <a:p>
            <a:pPr lvl="1" algn="just"/>
            <a:r>
              <a:rPr lang="en-US" b="1" dirty="0" smtClean="0"/>
              <a:t>Dependency on a small </a:t>
            </a:r>
            <a:r>
              <a:rPr lang="en-US" b="1" dirty="0" smtClean="0"/>
              <a:t>product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COST BY FINAL SALES 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38200"/>
            <a:ext cx="4572000" cy="243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800" y="38100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Final Cost By Final Sales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914401" y="3733800"/>
            <a:ext cx="7467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Cost Trend </a:t>
            </a:r>
          </a:p>
          <a:p>
            <a:pPr algn="just"/>
            <a:r>
              <a:rPr lang="en-US" b="1" dirty="0" smtClean="0"/>
              <a:t>Rises from Jan → Peaks in Apr–May → Declines mid-year → Stabilizes → Drops sharply in Dec</a:t>
            </a:r>
            <a:endParaRPr lang="en-US" dirty="0" smtClean="0"/>
          </a:p>
          <a:p>
            <a:pPr algn="just"/>
            <a:r>
              <a:rPr lang="en-US" dirty="0" smtClean="0"/>
              <a:t>The total cost for 2022 is </a:t>
            </a:r>
            <a:r>
              <a:rPr lang="en-US" b="1" dirty="0" smtClean="0"/>
              <a:t>~410K</a:t>
            </a:r>
            <a:r>
              <a:rPr lang="en-US" dirty="0" smtClean="0"/>
              <a:t>, reflecting moderate annual expenditure.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33400"/>
            <a:ext cx="7848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Insights</a:t>
            </a:r>
            <a:endParaRPr lang="en-US" b="1" dirty="0" smtClean="0"/>
          </a:p>
          <a:p>
            <a:r>
              <a:rPr lang="en-US" b="1" dirty="0" smtClean="0"/>
              <a:t>April–May</a:t>
            </a:r>
            <a:r>
              <a:rPr lang="en-US" dirty="0" smtClean="0"/>
              <a:t> require focus to understand cost drivers (supplier rates, high-demand drugs).</a:t>
            </a:r>
          </a:p>
          <a:p>
            <a:r>
              <a:rPr lang="en-US" b="1" dirty="0" smtClean="0"/>
              <a:t>December drop</a:t>
            </a:r>
            <a:r>
              <a:rPr lang="en-US" dirty="0" smtClean="0"/>
              <a:t> must be checked for data consistency.</a:t>
            </a:r>
          </a:p>
          <a:p>
            <a:r>
              <a:rPr lang="en-US" b="1" dirty="0" smtClean="0"/>
              <a:t>Stable mid-year performance</a:t>
            </a:r>
            <a:r>
              <a:rPr lang="en-US" dirty="0" smtClean="0"/>
              <a:t> indicates effective inventory and purchase planning.</a:t>
            </a:r>
          </a:p>
          <a:p>
            <a:r>
              <a:rPr lang="en-US" dirty="0" smtClean="0"/>
              <a:t>Monitoring </a:t>
            </a:r>
            <a:r>
              <a:rPr lang="en-US" b="1" dirty="0" smtClean="0"/>
              <a:t>cost vs. sales</a:t>
            </a:r>
            <a:r>
              <a:rPr lang="en-US" dirty="0" smtClean="0"/>
              <a:t> in these months can improve margin strategies.</a:t>
            </a:r>
          </a:p>
          <a:p>
            <a:endParaRPr lang="en-US" dirty="0"/>
          </a:p>
        </p:txBody>
      </p:sp>
      <p:pic>
        <p:nvPicPr>
          <p:cNvPr id="3" name="Picture 2" descr="KPI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52800"/>
            <a:ext cx="7681626" cy="10287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743200"/>
            <a:ext cx="746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Final Sales </a:t>
            </a:r>
            <a:endParaRPr lang="en-US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62000" y="4724400"/>
            <a:ext cx="762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Sales are excellent</a:t>
            </a:r>
            <a:endParaRPr lang="en-US" dirty="0" smtClean="0"/>
          </a:p>
          <a:p>
            <a:r>
              <a:rPr lang="en-US" b="1" dirty="0" smtClean="0"/>
              <a:t>Returns are too high</a:t>
            </a:r>
            <a:r>
              <a:rPr lang="en-US" dirty="0" smtClean="0"/>
              <a:t> → biggest problem</a:t>
            </a:r>
          </a:p>
          <a:p>
            <a:r>
              <a:rPr lang="en-US" b="1" dirty="0" smtClean="0"/>
              <a:t>Return rate needs improvement</a:t>
            </a:r>
            <a:endParaRPr lang="en-US" dirty="0" smtClean="0"/>
          </a:p>
          <a:p>
            <a:r>
              <a:rPr lang="en-US" b="1" dirty="0" smtClean="0"/>
              <a:t>Gross margin is good</a:t>
            </a:r>
            <a:r>
              <a:rPr lang="en-US" dirty="0" smtClean="0"/>
              <a:t>, but risky if returns stay high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457200" y="30480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DashBoard-2</a:t>
            </a:r>
            <a:endParaRPr lang="en-US" sz="2400" b="1" dirty="0"/>
          </a:p>
        </p:txBody>
      </p:sp>
      <p:pic>
        <p:nvPicPr>
          <p:cNvPr id="17" name="Picture 16" descr="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96" y="948475"/>
            <a:ext cx="8855208" cy="4961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457200"/>
            <a:ext cx="7848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Sales by Formulation:</a:t>
            </a:r>
          </a:p>
          <a:p>
            <a:pPr algn="just"/>
            <a:r>
              <a:rPr lang="en-US" dirty="0" smtClean="0"/>
              <a:t>• Tablets dominate overall revenue.</a:t>
            </a:r>
          </a:p>
          <a:p>
            <a:pPr algn="just"/>
            <a:r>
              <a:rPr lang="en-US" dirty="0" smtClean="0"/>
              <a:t>• Injections &amp; syrups seasonal but significant.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Top Performing Drugs:</a:t>
            </a:r>
          </a:p>
          <a:p>
            <a:pPr algn="just"/>
            <a:r>
              <a:rPr lang="en-US" dirty="0" smtClean="0"/>
              <a:t>• Small SKU group drives major revenue (Pareto Rule).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Slow Moving Drugs:</a:t>
            </a:r>
          </a:p>
          <a:p>
            <a:pPr algn="just"/>
            <a:r>
              <a:rPr lang="en-US" dirty="0" smtClean="0"/>
              <a:t>• Higher holding cost items → reduce reorder quantity.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Category-wise Quantity Sold:</a:t>
            </a:r>
          </a:p>
          <a:p>
            <a:pPr algn="just"/>
            <a:r>
              <a:rPr lang="en-US" dirty="0" smtClean="0"/>
              <a:t>• Antibiotics &amp; supplements sell the most.</a:t>
            </a:r>
          </a:p>
          <a:p>
            <a:pPr algn="just"/>
            <a:r>
              <a:rPr lang="en-US" dirty="0" smtClean="0"/>
              <a:t>• Chronic medication shows stable long-term movement.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TURNQUANTITY ,FIANL SALES BY SUB CAT,SUBCA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143000"/>
            <a:ext cx="4191000" cy="320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304800"/>
            <a:ext cx="678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ReturnQuantity</a:t>
            </a:r>
            <a:r>
              <a:rPr lang="en-US" sz="2400" b="1" dirty="0" smtClean="0"/>
              <a:t> And Final Sales By </a:t>
            </a:r>
            <a:r>
              <a:rPr lang="en-US" sz="2400" b="1" dirty="0" err="1" smtClean="0"/>
              <a:t>SubCat</a:t>
            </a:r>
            <a:r>
              <a:rPr lang="en-US" sz="2400" b="1" dirty="0" smtClean="0"/>
              <a:t> And SubCat1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4495800"/>
            <a:ext cx="685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High-Risk, High-Return Categories</a:t>
            </a:r>
          </a:p>
          <a:p>
            <a:r>
              <a:rPr lang="en-US" b="1" dirty="0" smtClean="0"/>
              <a:t>Injections</a:t>
            </a:r>
            <a:endParaRPr lang="en-US" dirty="0" smtClean="0"/>
          </a:p>
          <a:p>
            <a:r>
              <a:rPr lang="en-US" b="1" dirty="0" smtClean="0"/>
              <a:t>IV Fluids</a:t>
            </a:r>
            <a:endParaRPr lang="en-US" dirty="0" smtClean="0"/>
          </a:p>
          <a:p>
            <a:r>
              <a:rPr lang="en-US" dirty="0" smtClean="0"/>
              <a:t>These require </a:t>
            </a:r>
            <a:r>
              <a:rPr lang="en-US" b="1" dirty="0" smtClean="0"/>
              <a:t>priority action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Medium-Risk Categories</a:t>
            </a:r>
          </a:p>
          <a:p>
            <a:r>
              <a:rPr lang="en-US" dirty="0" smtClean="0"/>
              <a:t>Tablets &amp; Capsules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81000"/>
            <a:ext cx="59970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Inhalers</a:t>
            </a:r>
            <a:br>
              <a:rPr lang="en-US" dirty="0" smtClean="0"/>
            </a:br>
            <a:r>
              <a:rPr lang="en-US" dirty="0" smtClean="0"/>
              <a:t>These perform well with moderate sales and very low returns.</a:t>
            </a:r>
          </a:p>
          <a:p>
            <a:r>
              <a:rPr lang="en-US" b="1" dirty="0" smtClean="0"/>
              <a:t>Low-Risk Categories</a:t>
            </a:r>
          </a:p>
          <a:p>
            <a:r>
              <a:rPr lang="en-US" dirty="0" smtClean="0"/>
              <a:t>Ointments</a:t>
            </a:r>
          </a:p>
          <a:p>
            <a:r>
              <a:rPr lang="en-US" dirty="0" smtClean="0"/>
              <a:t>Syrups</a:t>
            </a:r>
          </a:p>
          <a:p>
            <a:r>
              <a:rPr lang="en-US" dirty="0" smtClean="0"/>
              <a:t>Powders</a:t>
            </a:r>
          </a:p>
          <a:p>
            <a:r>
              <a:rPr lang="en-US" dirty="0" smtClean="0"/>
              <a:t>Nutrition</a:t>
            </a:r>
          </a:p>
          <a:p>
            <a:endParaRPr lang="en-US" dirty="0"/>
          </a:p>
        </p:txBody>
      </p:sp>
      <p:pic>
        <p:nvPicPr>
          <p:cNvPr id="4" name="Picture 3" descr="RETURNQUANTITY,QUANTITY,FINALSALES BY DRUG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05200"/>
            <a:ext cx="4572000" cy="2133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895600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Final </a:t>
            </a:r>
            <a:r>
              <a:rPr lang="en-US" sz="2400" b="1" dirty="0" err="1" smtClean="0"/>
              <a:t>Sales,ReturnQuantity,Quantity</a:t>
            </a:r>
            <a:r>
              <a:rPr lang="en-US" sz="2400" b="1" dirty="0" smtClean="0"/>
              <a:t> By </a:t>
            </a:r>
            <a:r>
              <a:rPr lang="en-US" sz="2400" b="1" dirty="0" err="1" smtClean="0"/>
              <a:t>DrugName</a:t>
            </a:r>
            <a:endParaRPr lang="en-US" sz="2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1417320"/>
          <a:ext cx="6096000" cy="402336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Return Qty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Insight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High-Sales Drugs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&gt;10M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10K–20K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 demand, high but proportional 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Medium-Sales Drugs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3M–7M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3K–10K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Steady market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Low-Sales Drugs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&lt;2M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&lt;2K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Minimal return 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Overall Trend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drug causing abnormal return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mofquaNTITY BY FOR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914400"/>
            <a:ext cx="4038600" cy="213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381000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Quantity By Formulation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3276601"/>
            <a:ext cx="762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Form1 dominates completely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b="1" dirty="0" smtClean="0"/>
              <a:t>0.91M units</a:t>
            </a:r>
            <a:r>
              <a:rPr lang="en-US" dirty="0" smtClean="0"/>
              <a:t>, Form1 contributes </a:t>
            </a:r>
            <a:r>
              <a:rPr lang="en-US" b="1" dirty="0" smtClean="0"/>
              <a:t>over 80–85%</a:t>
            </a:r>
            <a:r>
              <a:rPr lang="en-US" dirty="0" smtClean="0"/>
              <a:t> of the total quantity.</a:t>
            </a:r>
          </a:p>
          <a:p>
            <a:r>
              <a:rPr lang="en-US" dirty="0" smtClean="0"/>
              <a:t>This makes it the </a:t>
            </a:r>
            <a:r>
              <a:rPr lang="en-US" b="1" dirty="0" smtClean="0"/>
              <a:t>primary formulation driving overall volume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Form2 is a distant second</a:t>
            </a:r>
            <a:endParaRPr lang="en-US" dirty="0" smtClean="0"/>
          </a:p>
          <a:p>
            <a:r>
              <a:rPr lang="en-US" dirty="0" smtClean="0"/>
              <a:t>At only </a:t>
            </a:r>
            <a:r>
              <a:rPr lang="en-US" b="1" dirty="0" smtClean="0"/>
              <a:t>0.10M units</a:t>
            </a:r>
            <a:r>
              <a:rPr lang="en-US" dirty="0" smtClean="0"/>
              <a:t>, it contributes roughly </a:t>
            </a:r>
            <a:r>
              <a:rPr lang="en-US" b="1" dirty="0" smtClean="0"/>
              <a:t>10%</a:t>
            </a:r>
            <a:r>
              <a:rPr lang="en-US" dirty="0" smtClean="0"/>
              <a:t> of Form1’s volume.</a:t>
            </a:r>
          </a:p>
          <a:p>
            <a:r>
              <a:rPr lang="en-US" dirty="0" smtClean="0"/>
              <a:t>Indicates moderate but significantly lower demand.</a:t>
            </a:r>
          </a:p>
          <a:p>
            <a:r>
              <a:rPr lang="en-US" b="1" dirty="0" smtClean="0"/>
              <a:t>Patent and Form3 have minimal share</a:t>
            </a:r>
            <a:endParaRPr lang="en-US" dirty="0" smtClean="0"/>
          </a:p>
          <a:p>
            <a:r>
              <a:rPr lang="en-US" dirty="0" smtClean="0"/>
              <a:t>Patent: </a:t>
            </a:r>
            <a:r>
              <a:rPr lang="en-US" b="1" dirty="0" smtClean="0"/>
              <a:t>0.04M units</a:t>
            </a:r>
            <a:endParaRPr lang="en-US" dirty="0" smtClean="0"/>
          </a:p>
          <a:p>
            <a:r>
              <a:rPr lang="en-US" dirty="0" smtClean="0"/>
              <a:t>Form3: </a:t>
            </a:r>
            <a:r>
              <a:rPr lang="en-US" b="1" dirty="0" smtClean="0"/>
              <a:t>0.01M units</a:t>
            </a:r>
            <a:endParaRPr lang="en-US" dirty="0" smtClean="0"/>
          </a:p>
          <a:p>
            <a:r>
              <a:rPr lang="en-US" dirty="0" smtClean="0"/>
              <a:t>Combined, they form </a:t>
            </a:r>
            <a:r>
              <a:rPr lang="en-US" b="1" dirty="0" smtClean="0"/>
              <a:t>less than 5%</a:t>
            </a:r>
            <a:r>
              <a:rPr lang="en-US" dirty="0" smtClean="0"/>
              <a:t> of the total volume.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09600"/>
            <a:ext cx="726192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dirty="0" smtClean="0"/>
              <a:t>Highly skewed distribution</a:t>
            </a:r>
            <a:endParaRPr lang="en-US" dirty="0" smtClean="0"/>
          </a:p>
          <a:p>
            <a:pPr algn="just"/>
            <a:r>
              <a:rPr lang="en-US" dirty="0" smtClean="0"/>
              <a:t>The quantity distribution is </a:t>
            </a:r>
            <a:r>
              <a:rPr lang="en-US" b="1" dirty="0" smtClean="0"/>
              <a:t>heavily concentrated in Form1</a:t>
            </a:r>
            <a:r>
              <a:rPr lang="en-US" dirty="0" smtClean="0"/>
              <a:t>, signaling either:</a:t>
            </a:r>
          </a:p>
          <a:p>
            <a:pPr lvl="1" algn="just"/>
            <a:r>
              <a:rPr lang="en-US" dirty="0" smtClean="0"/>
              <a:t>A strong market preference,</a:t>
            </a:r>
          </a:p>
          <a:p>
            <a:pPr lvl="1" algn="just"/>
            <a:r>
              <a:rPr lang="en-US" dirty="0" smtClean="0"/>
              <a:t>Or over-dependence on a single formulation.</a:t>
            </a:r>
          </a:p>
          <a:p>
            <a:pPr algn="just"/>
            <a:r>
              <a:rPr lang="en-US" b="1" dirty="0" smtClean="0"/>
              <a:t>Opportunity / Risk Indicators</a:t>
            </a:r>
            <a:endParaRPr lang="en-US" dirty="0" smtClean="0"/>
          </a:p>
          <a:p>
            <a:pPr algn="just"/>
            <a:r>
              <a:rPr lang="en-US" b="1" dirty="0" smtClean="0"/>
              <a:t>Opportunity:</a:t>
            </a:r>
            <a:r>
              <a:rPr lang="en-US" dirty="0" smtClean="0"/>
              <a:t> Focus on Form1 for sales growth or promotional activities.</a:t>
            </a:r>
          </a:p>
          <a:p>
            <a:pPr algn="just"/>
            <a:r>
              <a:rPr lang="en-US" b="1" dirty="0" smtClean="0"/>
              <a:t>Risk:</a:t>
            </a:r>
            <a:r>
              <a:rPr lang="en-US" dirty="0" smtClean="0"/>
              <a:t> Over-reliance on Form1 could be risky if demand shifts.</a:t>
            </a:r>
          </a:p>
          <a:p>
            <a:pPr algn="just"/>
            <a:r>
              <a:rPr lang="en-US" b="1" dirty="0" smtClean="0"/>
              <a:t>Low-volume formulations</a:t>
            </a:r>
            <a:r>
              <a:rPr lang="en-US" dirty="0" smtClean="0"/>
              <a:t> may need:</a:t>
            </a:r>
          </a:p>
          <a:p>
            <a:pPr lvl="1" algn="just"/>
            <a:r>
              <a:rPr lang="en-US" dirty="0" smtClean="0"/>
              <a:t>Portfolio rationalization, or</a:t>
            </a:r>
          </a:p>
          <a:p>
            <a:pPr lvl="1" algn="just"/>
            <a:r>
              <a:rPr lang="en-US" dirty="0" smtClean="0"/>
              <a:t>Marketing/push strategies to boost performance.</a:t>
            </a:r>
          </a:p>
          <a:p>
            <a:endParaRPr lang="en-US" dirty="0"/>
          </a:p>
        </p:txBody>
      </p:sp>
      <p:pic>
        <p:nvPicPr>
          <p:cNvPr id="3" name="Picture 2" descr="return quantity and final sales by for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267200"/>
            <a:ext cx="39624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3733800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ReturnQuantity</a:t>
            </a:r>
            <a:r>
              <a:rPr lang="en-US" sz="2400" b="1" dirty="0" smtClean="0"/>
              <a:t> And Final Sales By Formulation</a:t>
            </a:r>
            <a:endParaRPr lang="en-US" sz="24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381000"/>
            <a:ext cx="693991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b="1" dirty="0" smtClean="0"/>
              <a:t>Strength</a:t>
            </a:r>
          </a:p>
          <a:p>
            <a:pPr algn="just"/>
            <a:r>
              <a:rPr lang="en-US" dirty="0" smtClean="0"/>
              <a:t>Form1 is performing exceptionally well with strong sales and no returns.</a:t>
            </a:r>
          </a:p>
          <a:p>
            <a:pPr algn="just"/>
            <a:r>
              <a:rPr lang="en-US" b="1" dirty="0" smtClean="0"/>
              <a:t>Risks</a:t>
            </a:r>
          </a:p>
          <a:p>
            <a:pPr algn="just"/>
            <a:r>
              <a:rPr lang="en-US" dirty="0" smtClean="0"/>
              <a:t>Heavy dependency on a single formulation.</a:t>
            </a:r>
          </a:p>
          <a:p>
            <a:pPr algn="just"/>
            <a:r>
              <a:rPr lang="en-US" dirty="0" smtClean="0"/>
              <a:t>Lack of diversification in revenue streams.</a:t>
            </a:r>
          </a:p>
          <a:p>
            <a:pPr algn="just"/>
            <a:r>
              <a:rPr lang="en-US" b="1" dirty="0" smtClean="0"/>
              <a:t>Opportunities</a:t>
            </a:r>
          </a:p>
          <a:p>
            <a:pPr algn="just"/>
            <a:r>
              <a:rPr lang="en-US" dirty="0" smtClean="0"/>
              <a:t>Investigate why Form2, Patent, and Form3 are not generating sales.</a:t>
            </a:r>
          </a:p>
          <a:p>
            <a:pPr algn="just"/>
            <a:r>
              <a:rPr lang="en-US" dirty="0" smtClean="0"/>
              <a:t>Potential to scale their performance through:</a:t>
            </a:r>
          </a:p>
          <a:p>
            <a:pPr lvl="1" algn="just"/>
            <a:r>
              <a:rPr lang="en-US" dirty="0" smtClean="0"/>
              <a:t>Pricing changes</a:t>
            </a:r>
          </a:p>
          <a:p>
            <a:pPr lvl="1" algn="just"/>
            <a:r>
              <a:rPr lang="en-US" dirty="0" smtClean="0"/>
              <a:t>Distribution improvements</a:t>
            </a:r>
          </a:p>
          <a:p>
            <a:pPr lvl="1" algn="just"/>
            <a:r>
              <a:rPr lang="en-US" dirty="0" smtClean="0"/>
              <a:t>Promotional strategies</a:t>
            </a:r>
          </a:p>
          <a:p>
            <a:pPr algn="just"/>
            <a:r>
              <a:rPr lang="en-US" b="1" dirty="0" smtClean="0"/>
              <a:t>Data Quality Check</a:t>
            </a:r>
          </a:p>
          <a:p>
            <a:pPr algn="just"/>
            <a:r>
              <a:rPr lang="en-US" dirty="0" smtClean="0"/>
              <a:t>Zero returns for all formulations suggests verifying if:</a:t>
            </a:r>
          </a:p>
          <a:p>
            <a:pPr lvl="1" algn="just"/>
            <a:r>
              <a:rPr lang="en-US" dirty="0" smtClean="0"/>
              <a:t>Return process is accurate, or</a:t>
            </a:r>
          </a:p>
          <a:p>
            <a:pPr lvl="1" algn="just"/>
            <a:r>
              <a:rPr lang="en-US" dirty="0" smtClean="0"/>
              <a:t>Data entry for returns is missing.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turnquantity and quantity by drug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838200"/>
            <a:ext cx="41148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304800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ReturnQuantity</a:t>
            </a:r>
            <a:r>
              <a:rPr lang="en-US" sz="2400" b="1" dirty="0" smtClean="0"/>
              <a:t> And Quantity By </a:t>
            </a:r>
            <a:r>
              <a:rPr lang="en-US" sz="2400" b="1" dirty="0" err="1" smtClean="0"/>
              <a:t>Drugname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692542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Returns seem proportional to sales</a:t>
            </a:r>
          </a:p>
          <a:p>
            <a:r>
              <a:rPr lang="en-US" dirty="0" smtClean="0"/>
              <a:t>Higher sales → higher returns, mostly normal </a:t>
            </a:r>
            <a:r>
              <a:rPr lang="en-US" dirty="0" err="1" smtClean="0"/>
              <a:t>behaviour</a:t>
            </a:r>
            <a:r>
              <a:rPr lang="en-US" dirty="0" smtClean="0"/>
              <a:t>.</a:t>
            </a:r>
          </a:p>
          <a:p>
            <a:r>
              <a:rPr lang="en-US" dirty="0" smtClean="0"/>
              <a:t>No extreme anomalies (e.g., drugs with very low sales but high returns).</a:t>
            </a:r>
          </a:p>
          <a:p>
            <a:r>
              <a:rPr lang="en-US" b="1" dirty="0" smtClean="0"/>
              <a:t>Low-volume </a:t>
            </a:r>
            <a:r>
              <a:rPr lang="en-US" b="1" dirty="0" smtClean="0"/>
              <a:t>drugs are stable</a:t>
            </a:r>
          </a:p>
          <a:p>
            <a:r>
              <a:rPr lang="en-US" dirty="0" smtClean="0"/>
              <a:t>They show </a:t>
            </a:r>
            <a:r>
              <a:rPr lang="en-US" b="1" dirty="0" smtClean="0"/>
              <a:t>lower return-related risk</a:t>
            </a:r>
            <a:r>
              <a:rPr lang="en-US" dirty="0" smtClean="0"/>
              <a:t>.</a:t>
            </a:r>
          </a:p>
          <a:p>
            <a:r>
              <a:rPr lang="en-US" dirty="0" smtClean="0"/>
              <a:t>Likely well-managed in supply chain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981200"/>
            <a:ext cx="857972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Return Quantity (Rate) — 0.31</a:t>
            </a:r>
          </a:p>
          <a:p>
            <a:r>
              <a:rPr lang="en-US" dirty="0" smtClean="0"/>
              <a:t>The return rate is </a:t>
            </a:r>
            <a:r>
              <a:rPr lang="en-US" b="1" dirty="0" smtClean="0"/>
              <a:t>31%</a:t>
            </a:r>
            <a:r>
              <a:rPr lang="en-US" dirty="0" smtClean="0"/>
              <a:t>, which is </a:t>
            </a:r>
            <a:r>
              <a:rPr lang="en-US" b="1" dirty="0" smtClean="0"/>
              <a:t>high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indicates that </a:t>
            </a:r>
            <a:r>
              <a:rPr lang="en-US" b="1" dirty="0" smtClean="0"/>
              <a:t>nearly one-third</a:t>
            </a:r>
            <a:r>
              <a:rPr lang="en-US" dirty="0" smtClean="0"/>
              <a:t> of sold products are being returned.</a:t>
            </a:r>
          </a:p>
          <a:p>
            <a:r>
              <a:rPr lang="en-US" dirty="0" smtClean="0"/>
              <a:t>Such a high return ratio can lead to:</a:t>
            </a:r>
          </a:p>
          <a:p>
            <a:pPr lvl="1"/>
            <a:r>
              <a:rPr lang="en-US" dirty="0" smtClean="0"/>
              <a:t>Revenue leakage</a:t>
            </a:r>
          </a:p>
          <a:p>
            <a:pPr lvl="1"/>
            <a:r>
              <a:rPr lang="en-US" dirty="0" smtClean="0"/>
              <a:t>Excess inventory circulation</a:t>
            </a:r>
          </a:p>
          <a:p>
            <a:pPr lvl="1"/>
            <a:r>
              <a:rPr lang="en-US" dirty="0" smtClean="0"/>
              <a:t>Customer or distributor dissatisfaction</a:t>
            </a:r>
          </a:p>
          <a:p>
            <a:pPr lvl="1"/>
            <a:r>
              <a:rPr lang="en-US" dirty="0" smtClean="0"/>
              <a:t>Potential product quality or forecasting issues</a:t>
            </a:r>
          </a:p>
          <a:p>
            <a:r>
              <a:rPr lang="en-US" b="1" dirty="0" smtClean="0"/>
              <a:t>Average </a:t>
            </a:r>
            <a:r>
              <a:rPr lang="en-US" b="1" dirty="0" smtClean="0"/>
              <a:t>Sales Per Drug — 25.70K</a:t>
            </a:r>
          </a:p>
          <a:p>
            <a:r>
              <a:rPr lang="en-US" dirty="0" smtClean="0"/>
              <a:t>Each drug generates </a:t>
            </a:r>
            <a:r>
              <a:rPr lang="en-US" b="1" dirty="0" smtClean="0"/>
              <a:t>25.7K in sales on average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Suggests </a:t>
            </a:r>
            <a:r>
              <a:rPr lang="en-US" b="1" dirty="0" smtClean="0"/>
              <a:t>healthy product performance</a:t>
            </a:r>
            <a:r>
              <a:rPr lang="en-US" dirty="0" smtClean="0"/>
              <a:t>, with strong demand across most drug categories.</a:t>
            </a:r>
          </a:p>
          <a:p>
            <a:r>
              <a:rPr lang="en-US" dirty="0" smtClean="0"/>
              <a:t>Useful for: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3" name="Picture 2" descr="skpi2222222222222222222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43000"/>
            <a:ext cx="6447079" cy="7620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0600" y="60960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Major Insights</a:t>
            </a:r>
            <a:endParaRPr lang="en-US" sz="24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762000"/>
            <a:ext cx="7543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 smtClean="0"/>
              <a:t>Identifying top-performing drugs</a:t>
            </a:r>
          </a:p>
          <a:p>
            <a:pPr lvl="1"/>
            <a:r>
              <a:rPr lang="en-US" dirty="0" smtClean="0"/>
              <a:t>Inventory planning</a:t>
            </a:r>
          </a:p>
          <a:p>
            <a:pPr lvl="1"/>
            <a:r>
              <a:rPr lang="en-US" dirty="0" smtClean="0"/>
              <a:t>Sales forecasting</a:t>
            </a:r>
          </a:p>
          <a:p>
            <a:r>
              <a:rPr lang="en-US" b="1" dirty="0" smtClean="0"/>
              <a:t>Net </a:t>
            </a:r>
            <a:r>
              <a:rPr lang="en-US" b="1" dirty="0" smtClean="0"/>
              <a:t>Sales — 710.57K</a:t>
            </a:r>
          </a:p>
          <a:p>
            <a:r>
              <a:rPr lang="en-US" dirty="0" smtClean="0"/>
              <a:t>Total net sales amount is </a:t>
            </a:r>
            <a:r>
              <a:rPr lang="en-US" b="1" dirty="0" smtClean="0"/>
              <a:t>710.57K</a:t>
            </a:r>
            <a:r>
              <a:rPr lang="en-US" dirty="0" smtClean="0"/>
              <a:t> for the selected period.</a:t>
            </a:r>
          </a:p>
          <a:p>
            <a:r>
              <a:rPr lang="en-US" dirty="0" smtClean="0"/>
              <a:t>Despite high returns, </a:t>
            </a:r>
            <a:r>
              <a:rPr lang="en-US" b="1" dirty="0" smtClean="0"/>
              <a:t>overall revenue remains strong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Indicates:</a:t>
            </a:r>
          </a:p>
          <a:p>
            <a:pPr lvl="1"/>
            <a:r>
              <a:rPr lang="en-US" dirty="0" smtClean="0"/>
              <a:t>Good market reach</a:t>
            </a:r>
          </a:p>
          <a:p>
            <a:pPr lvl="1"/>
            <a:r>
              <a:rPr lang="en-US" dirty="0" smtClean="0"/>
              <a:t>Strong purchase volume</a:t>
            </a:r>
          </a:p>
          <a:p>
            <a:pPr lvl="1"/>
            <a:r>
              <a:rPr lang="en-US" dirty="0" smtClean="0"/>
              <a:t>Opportunity to further grow if return issues are controlled</a:t>
            </a:r>
          </a:p>
          <a:p>
            <a:r>
              <a:rPr lang="en-US" b="1" dirty="0" smtClean="0"/>
              <a:t>Quantity </a:t>
            </a:r>
            <a:r>
              <a:rPr lang="en-US" b="1" dirty="0" smtClean="0"/>
              <a:t>Sold — 2.43K</a:t>
            </a:r>
          </a:p>
          <a:p>
            <a:r>
              <a:rPr lang="en-US" b="1" dirty="0" smtClean="0"/>
              <a:t>2,430 units</a:t>
            </a:r>
            <a:r>
              <a:rPr lang="en-US" dirty="0" smtClean="0"/>
              <a:t> sold overall.</a:t>
            </a:r>
          </a:p>
          <a:p>
            <a:r>
              <a:rPr lang="en-US" dirty="0" smtClean="0"/>
              <a:t>When compared to return rate (0.31):</a:t>
            </a:r>
          </a:p>
          <a:p>
            <a:pPr lvl="1"/>
            <a:r>
              <a:rPr lang="en-US" dirty="0" smtClean="0"/>
              <a:t>Effective net sold units ≈ </a:t>
            </a:r>
            <a:r>
              <a:rPr lang="en-US" b="1" dirty="0" smtClean="0"/>
              <a:t>1,680 units</a:t>
            </a:r>
            <a:endParaRPr lang="en-US" dirty="0" smtClean="0"/>
          </a:p>
          <a:p>
            <a:r>
              <a:rPr lang="en-US" dirty="0" smtClean="0"/>
              <a:t>Highlights:</a:t>
            </a:r>
          </a:p>
          <a:p>
            <a:pPr lvl="1"/>
            <a:r>
              <a:rPr lang="en-US" dirty="0" smtClean="0"/>
              <a:t>Good sales volume</a:t>
            </a:r>
          </a:p>
          <a:p>
            <a:pPr lvl="1"/>
            <a:r>
              <a:rPr lang="en-US" dirty="0" smtClean="0"/>
              <a:t>Returns reducing effective delivery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92" y="982768"/>
            <a:ext cx="8710415" cy="4892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381000"/>
            <a:ext cx="777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DashBoard</a:t>
            </a:r>
            <a:r>
              <a:rPr lang="en-US" sz="2400" b="1" dirty="0" smtClean="0"/>
              <a:t> 3</a:t>
            </a:r>
            <a:endParaRPr lang="en-US" sz="24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457200"/>
            <a:ext cx="7543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Doctor </a:t>
            </a:r>
            <a:r>
              <a:rPr lang="en-US" dirty="0" err="1" smtClean="0"/>
              <a:t>Specialisation</a:t>
            </a:r>
            <a:r>
              <a:rPr lang="en-US" dirty="0" smtClean="0"/>
              <a:t>-wise Sales:</a:t>
            </a:r>
          </a:p>
          <a:p>
            <a:r>
              <a:rPr lang="en-US" dirty="0" smtClean="0"/>
              <a:t>• Physicians drive highest sales → major OPD flow.</a:t>
            </a:r>
          </a:p>
          <a:p>
            <a:endParaRPr lang="en-US" dirty="0" smtClean="0"/>
          </a:p>
          <a:p>
            <a:r>
              <a:rPr lang="en-US" dirty="0" smtClean="0"/>
              <a:t>Patient Count Trend:</a:t>
            </a:r>
          </a:p>
          <a:p>
            <a:r>
              <a:rPr lang="en-US" dirty="0" smtClean="0"/>
              <a:t>• Increasing trend shows business growth.</a:t>
            </a:r>
          </a:p>
          <a:p>
            <a:endParaRPr lang="en-US" dirty="0" smtClean="0"/>
          </a:p>
          <a:p>
            <a:r>
              <a:rPr lang="en-US" dirty="0" smtClean="0"/>
              <a:t>Gender Distribution:</a:t>
            </a:r>
          </a:p>
          <a:p>
            <a:r>
              <a:rPr lang="en-US" dirty="0" smtClean="0"/>
              <a:t>• Balanced ratio with slight female skew.</a:t>
            </a:r>
          </a:p>
          <a:p>
            <a:endParaRPr lang="en-US" dirty="0" smtClean="0"/>
          </a:p>
          <a:p>
            <a:r>
              <a:rPr lang="en-US" dirty="0" smtClean="0"/>
              <a:t>Age Group Distribution:</a:t>
            </a:r>
          </a:p>
          <a:p>
            <a:r>
              <a:rPr lang="en-US" dirty="0" smtClean="0"/>
              <a:t>• Adults dominate prescriptions.</a:t>
            </a:r>
          </a:p>
          <a:p>
            <a:r>
              <a:rPr lang="en-US" dirty="0" smtClean="0"/>
              <a:t>• Children/pediatrics depend on seasonal diseases.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 sales,returnmrp etc by drugname 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884844" cy="19585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04800"/>
            <a:ext cx="723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FinalSales,Returnmrp,Quantity</a:t>
            </a:r>
            <a:r>
              <a:rPr lang="en-US" sz="2400" b="1" dirty="0" smtClean="0"/>
              <a:t> By </a:t>
            </a:r>
            <a:r>
              <a:rPr lang="en-US" sz="2400" b="1" dirty="0" err="1" smtClean="0"/>
              <a:t>D</a:t>
            </a:r>
            <a:r>
              <a:rPr lang="en-US" sz="2400" b="1" dirty="0" err="1" smtClean="0"/>
              <a:t>rugname</a:t>
            </a:r>
            <a:r>
              <a:rPr lang="en-US" sz="2400" b="1" dirty="0" smtClean="0"/>
              <a:t> And </a:t>
            </a:r>
            <a:r>
              <a:rPr lang="en-US" sz="2400" b="1" dirty="0" err="1" smtClean="0"/>
              <a:t>Specialisation</a:t>
            </a:r>
            <a:endParaRPr lang="en-US" sz="2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3352800"/>
          <a:ext cx="7239000" cy="3248921"/>
        </p:xfrm>
        <a:graphic>
          <a:graphicData uri="http://schemas.openxmlformats.org/drawingml/2006/table">
            <a:tbl>
              <a:tblPr/>
              <a:tblGrid>
                <a:gridCol w="1809750"/>
                <a:gridCol w="1809750"/>
                <a:gridCol w="1809750"/>
                <a:gridCol w="1809750"/>
              </a:tblGrid>
              <a:tr h="127314">
                <a:tc>
                  <a:txBody>
                    <a:bodyPr/>
                    <a:lstStyle/>
                    <a:p>
                      <a:r>
                        <a:rPr lang="en-US" sz="900" b="1"/>
                        <a:t>#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Insight Category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Observation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Implication / Action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2355">
                <a:tc>
                  <a:txBody>
                    <a:bodyPr/>
                    <a:lstStyle/>
                    <a:p>
                      <a:r>
                        <a:rPr lang="en-US" sz="900" b="1"/>
                        <a:t>1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Positive Correlation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Final Sales and Return MRP increase together.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High-selling drugs also generate higher returns; return levels must be monitored proportional to sales.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1121">
                <a:tc>
                  <a:txBody>
                    <a:bodyPr/>
                    <a:lstStyle/>
                    <a:p>
                      <a:r>
                        <a:rPr lang="en-US" sz="900" b="1"/>
                        <a:t>2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Sales Distribution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Majority of drugs lie in 0–1.5M sales with low returns.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These are stable products with predictable demand; low risk.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9546">
                <a:tc>
                  <a:txBody>
                    <a:bodyPr/>
                    <a:lstStyle/>
                    <a:p>
                      <a:r>
                        <a:rPr lang="en-US" sz="900" b="1"/>
                        <a:t>3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High-Return Outliers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Few drugs show very high sales (2–4M) and very high return MRP (0.5M–1M).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Investigate these products individually for expiry issues, overstocking, or return policy misuse.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6738">
                <a:tc>
                  <a:txBody>
                    <a:bodyPr/>
                    <a:lstStyle/>
                    <a:p>
                      <a:r>
                        <a:rPr lang="en-US" sz="900" b="1"/>
                        <a:t>4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Specialisation Pattern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 specialisation dominates high-return drugs; issues are drug-specific.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Quality, shelf-life, or supply-chain issues are likely drug-level, not department-driven.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3929">
                <a:tc>
                  <a:txBody>
                    <a:bodyPr/>
                    <a:lstStyle/>
                    <a:p>
                      <a:r>
                        <a:rPr lang="en-US" sz="900" b="1"/>
                        <a:t>5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Quantity Relationship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Bigger bubbles (higher quantities sold) usually show higher returns.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High-volume drugs need tighter inventory planning to reduce return percentages.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6738">
                <a:tc>
                  <a:txBody>
                    <a:bodyPr/>
                    <a:lstStyle/>
                    <a:p>
                      <a:r>
                        <a:rPr lang="en-US" sz="900" b="1"/>
                        <a:t>6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Return Ratio Behavior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Returns increase with sales volume but not always proportionally.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Identify drugs with unusually high </a:t>
                      </a:r>
                      <a:r>
                        <a:rPr lang="en-US" sz="900" b="1"/>
                        <a:t>return % = Return MRP / Final Sales</a:t>
                      </a:r>
                      <a:r>
                        <a:rPr lang="en-US" sz="900"/>
                        <a:t> for priority action.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3929">
                <a:tc>
                  <a:txBody>
                    <a:bodyPr/>
                    <a:lstStyle/>
                    <a:p>
                      <a:r>
                        <a:rPr lang="en-US" sz="900" b="1"/>
                        <a:t>7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Risk Indicators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High-sales, high-return drugs are primary risk items.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Apply demand forecasting, expiry tracking, and controlled dispatch.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3929">
                <a:tc>
                  <a:txBody>
                    <a:bodyPr/>
                    <a:lstStyle/>
                    <a:p>
                      <a:r>
                        <a:rPr lang="en-US" sz="900" b="1"/>
                        <a:t>8</a:t>
                      </a:r>
                      <a:endParaRPr lang="en-US" sz="900"/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Operational Opportunities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Low-return drugs with steady sales indicate strong product health.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These drugs can be prioritized for promotion or stock availability.</a:t>
                      </a:r>
                    </a:p>
                  </a:txBody>
                  <a:tcPr marL="20219" marR="20219" marT="10109" marB="1010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m of quantity depy by drugname and sub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14400"/>
            <a:ext cx="4191000" cy="236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04800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/>
              <a:t>Quantity,Dept</a:t>
            </a:r>
            <a:r>
              <a:rPr lang="en-US" sz="2400" b="1" dirty="0" smtClean="0"/>
              <a:t> By </a:t>
            </a:r>
            <a:r>
              <a:rPr lang="en-US" sz="2400" b="1" dirty="0" err="1" smtClean="0"/>
              <a:t>DrugName</a:t>
            </a:r>
            <a:r>
              <a:rPr lang="en-US" sz="2400" b="1" dirty="0" smtClean="0"/>
              <a:t> And </a:t>
            </a:r>
            <a:r>
              <a:rPr lang="en-US" sz="2400" b="1" dirty="0" err="1" smtClean="0"/>
              <a:t>Subcat</a:t>
            </a:r>
            <a:endParaRPr lang="en-US" sz="2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599" y="3428999"/>
          <a:ext cx="7162800" cy="3186244"/>
        </p:xfrm>
        <a:graphic>
          <a:graphicData uri="http://schemas.openxmlformats.org/drawingml/2006/table">
            <a:tbl>
              <a:tblPr/>
              <a:tblGrid>
                <a:gridCol w="2387600"/>
                <a:gridCol w="2387600"/>
                <a:gridCol w="2387600"/>
              </a:tblGrid>
              <a:tr h="223888">
                <a:tc>
                  <a:txBody>
                    <a:bodyPr/>
                    <a:lstStyle/>
                    <a:p>
                      <a:r>
                        <a:rPr lang="en-US" sz="1400" b="1"/>
                        <a:t>Category</a:t>
                      </a:r>
                      <a:endParaRPr lang="en-US" sz="1400"/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Observation</a:t>
                      </a:r>
                      <a:endParaRPr lang="en-US" sz="1400"/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Implication</a:t>
                      </a:r>
                      <a:endParaRPr lang="en-US" sz="1400"/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25078">
                <a:tc>
                  <a:txBody>
                    <a:bodyPr/>
                    <a:lstStyle/>
                    <a:p>
                      <a:r>
                        <a:rPr lang="en-US" sz="1400" b="1"/>
                        <a:t>Demand Concentration</a:t>
                      </a:r>
                      <a:endParaRPr lang="en-US" sz="1400"/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Top 3 drugs contribute more than </a:t>
                      </a:r>
                      <a:r>
                        <a:rPr lang="en-US" sz="1400" b="1"/>
                        <a:t>135K units</a:t>
                      </a:r>
                      <a:r>
                        <a:rPr lang="en-US" sz="1400"/>
                        <a:t> combined.</a:t>
                      </a:r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Inventory planning should focus on these SKUs.</a:t>
                      </a:r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25078">
                <a:tc>
                  <a:txBody>
                    <a:bodyPr/>
                    <a:lstStyle/>
                    <a:p>
                      <a:r>
                        <a:rPr lang="en-US" sz="1400" b="1"/>
                        <a:t>Category Pattern</a:t>
                      </a:r>
                      <a:endParaRPr lang="en-US" sz="1400"/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All drugs belong to </a:t>
                      </a:r>
                      <a:r>
                        <a:rPr lang="en-US" sz="1400" i="1"/>
                        <a:t>IV Fluids, Electrolytes, TPN</a:t>
                      </a:r>
                      <a:r>
                        <a:rPr lang="en-US" sz="1400"/>
                        <a:t> category.</a:t>
                      </a:r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dependency on hospital in-patient care usage.</a:t>
                      </a:r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25078">
                <a:tc>
                  <a:txBody>
                    <a:bodyPr/>
                    <a:lstStyle/>
                    <a:p>
                      <a:r>
                        <a:rPr lang="en-US" sz="1400" b="1"/>
                        <a:t>Risk Indicators</a:t>
                      </a:r>
                      <a:endParaRPr lang="en-US" sz="1400"/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High-volume IV fluids require bulk storage &amp; short shelf-life control.</a:t>
                      </a:r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Improve FEFO compliance, monitor near-expiry items.</a:t>
                      </a:r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25078">
                <a:tc>
                  <a:txBody>
                    <a:bodyPr/>
                    <a:lstStyle/>
                    <a:p>
                      <a:r>
                        <a:rPr lang="en-US" sz="1400" b="1" dirty="0"/>
                        <a:t>Operational Efficiency</a:t>
                      </a:r>
                      <a:endParaRPr lang="en-US" sz="1400" dirty="0"/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Consumption pattern stable with minimal variation between top items.</a:t>
                      </a:r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Opportunity to negotiate bulk supplier pricing.</a:t>
                      </a:r>
                    </a:p>
                  </a:txBody>
                  <a:tcPr marL="72571" marR="72571" marT="36286" marB="362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antity wise special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838200"/>
            <a:ext cx="3200400" cy="236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2600" y="304800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Quantity By </a:t>
            </a:r>
            <a:r>
              <a:rPr lang="en-US" sz="2400" b="1" dirty="0" err="1" smtClean="0"/>
              <a:t>Specialisation</a:t>
            </a:r>
            <a:endParaRPr lang="en-US" sz="2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3276601"/>
          <a:ext cx="8001000" cy="3352797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  <a:gridCol w="1600200"/>
              </a:tblGrid>
              <a:tr h="338666">
                <a:tc>
                  <a:txBody>
                    <a:bodyPr/>
                    <a:lstStyle/>
                    <a:p>
                      <a:r>
                        <a:rPr lang="en-US" sz="800" b="1"/>
                        <a:t>Rank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Specialisation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Quantity (Million)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Insight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Recommended Action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5066">
                <a:tc>
                  <a:txBody>
                    <a:bodyPr/>
                    <a:lstStyle/>
                    <a:p>
                      <a:r>
                        <a:rPr lang="en-US" sz="800" b="1"/>
                        <a:t>1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Specialisation A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0.30M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Dominates total consumption; major driver of drug usage.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Prioritize inventory allocation; negotiate bulk pricing.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5066">
                <a:tc>
                  <a:txBody>
                    <a:bodyPr/>
                    <a:lstStyle/>
                    <a:p>
                      <a:r>
                        <a:rPr lang="en-US" sz="800" b="1"/>
                        <a:t>2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Specialisation B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0.16M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Second-highest demand; contributes significantly.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Maintain stable stock; monitor seasonal variations.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1866">
                <a:tc>
                  <a:txBody>
                    <a:bodyPr/>
                    <a:lstStyle/>
                    <a:p>
                      <a:r>
                        <a:rPr lang="en-US" sz="800" b="1" dirty="0"/>
                        <a:t>3</a:t>
                      </a:r>
                      <a:endParaRPr lang="en-US" sz="800" dirty="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Specialisation C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0.05M</a:t>
                      </a:r>
                      <a:endParaRPr lang="en-US" sz="800" dirty="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Moderate usage; demand is predictable.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Maintain optimal reorder levels.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1866">
                <a:tc>
                  <a:txBody>
                    <a:bodyPr/>
                    <a:lstStyle/>
                    <a:p>
                      <a:r>
                        <a:rPr lang="en-US" sz="800" b="1" dirty="0"/>
                        <a:t>4</a:t>
                      </a:r>
                      <a:endParaRPr lang="en-US" sz="800" dirty="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Specialisation D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/>
                        <a:t>0.04M</a:t>
                      </a:r>
                      <a:endParaRPr lang="en-US" sz="800" dirty="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Low but steady consumption.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Avoid overstocking; check expiry trends.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0267">
                <a:tc>
                  <a:txBody>
                    <a:bodyPr/>
                    <a:lstStyle/>
                    <a:p>
                      <a:r>
                        <a:rPr lang="en-US" sz="800" b="1" dirty="0"/>
                        <a:t>5</a:t>
                      </a:r>
                      <a:endParaRPr lang="en-US" sz="800" dirty="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Specialisation E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0.04M</a:t>
                      </a:r>
                      <a:endParaRPr lang="en-US" sz="800"/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Similar volume to Specialisation D.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Consider category consolidation.</a:t>
                      </a:r>
                    </a:p>
                  </a:txBody>
                  <a:tcPr marL="41051" marR="41051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tient id by d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143000"/>
            <a:ext cx="2514818" cy="1996613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43000" y="3276600"/>
          <a:ext cx="6629400" cy="3100651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  <a:gridCol w="1325880"/>
                <a:gridCol w="1325880"/>
              </a:tblGrid>
              <a:tr h="182381">
                <a:tc>
                  <a:txBody>
                    <a:bodyPr/>
                    <a:lstStyle/>
                    <a:p>
                      <a:r>
                        <a:rPr lang="en-US" sz="900" b="1"/>
                        <a:t>Department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Patient Count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% of Total Patients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Insight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Action Recommendation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21111">
                <a:tc>
                  <a:txBody>
                    <a:bodyPr/>
                    <a:lstStyle/>
                    <a:p>
                      <a:r>
                        <a:rPr lang="en-US" sz="900" b="1"/>
                        <a:t>Department 1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~12,000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≈ 80–85%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This department handles the </a:t>
                      </a:r>
                      <a:r>
                        <a:rPr lang="en-US" sz="900" b="1"/>
                        <a:t>majority</a:t>
                      </a:r>
                      <a:r>
                        <a:rPr lang="en-US" sz="900"/>
                        <a:t> of patient volume.</a:t>
                      </a:r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Allocate more staff, beds, and resources here; optimize workflow to reduce congestion.</a:t>
                      </a:r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85731">
                <a:tc>
                  <a:txBody>
                    <a:bodyPr/>
                    <a:lstStyle/>
                    <a:p>
                      <a:r>
                        <a:rPr lang="en-US" sz="900" b="1"/>
                        <a:t>Department 2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~2,000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≈ 12–15%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Moderate patient load compared to Dept 1.</a:t>
                      </a:r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Maintain standard resource levels; monitor seasonal variations.</a:t>
                      </a:r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11428">
                <a:tc>
                  <a:txBody>
                    <a:bodyPr/>
                    <a:lstStyle/>
                    <a:p>
                      <a:r>
                        <a:rPr lang="en-US" sz="900" b="1"/>
                        <a:t>Department 3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Very Low (~100–200)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&lt; 2%</a:t>
                      </a:r>
                      <a:endParaRPr lang="en-US" sz="900"/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Minimal patient traffic; underutilized department.</a:t>
                      </a:r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Consider resource redistribution, merging services, or repurposing.</a:t>
                      </a:r>
                    </a:p>
                  </a:txBody>
                  <a:tcPr marL="44659" marR="44659" marT="22330" marB="223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381000"/>
            <a:ext cx="746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Patient ID By Department</a:t>
            </a:r>
            <a:endParaRPr lang="en-US" sz="24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antity by depar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066800"/>
            <a:ext cx="3276600" cy="19508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381000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Quantity, Date By Dept</a:t>
            </a:r>
            <a:endParaRPr lang="en-US" sz="2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2" y="3276600"/>
          <a:ext cx="7772400" cy="31242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41710">
                <a:tc>
                  <a:txBody>
                    <a:bodyPr/>
                    <a:lstStyle/>
                    <a:p>
                      <a:r>
                        <a:rPr lang="en-US" sz="1200" b="1" dirty="0"/>
                        <a:t>Department</a:t>
                      </a:r>
                      <a:endParaRPr lang="en-US" sz="1200" dirty="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Avg Daily Quantity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Peak Quantity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Trend Pattern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Operational Insight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0390">
                <a:tc>
                  <a:txBody>
                    <a:bodyPr/>
                    <a:lstStyle/>
                    <a:p>
                      <a:r>
                        <a:rPr lang="en-US" sz="1200" b="1"/>
                        <a:t>Department 1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≈ 2,000–4,000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≈ 6,000</a:t>
                      </a:r>
                      <a:endParaRPr lang="en-US" sz="1200" dirty="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Consistently high with frequent spikes</a:t>
                      </a: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Major driver of overall consumption; priority for inventory planning</a:t>
                      </a: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lang="en-US" sz="1200" b="1"/>
                        <a:t>Department 2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≈ 200–500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≈ 800</a:t>
                      </a:r>
                      <a:endParaRPr lang="en-US" sz="1200" dirty="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Stable, low-to-moderate usage</a:t>
                      </a: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Predictable demand; standard stock level sufficient</a:t>
                      </a: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lang="en-US" sz="1200" b="1"/>
                        <a:t>Department 3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&lt; 100</a:t>
                      </a:r>
                      <a:endParaRPr lang="en-US" sz="120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≈ 150</a:t>
                      </a:r>
                      <a:endParaRPr lang="en-US" sz="1200" dirty="0"/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Minimal, stable</a:t>
                      </a: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Underutilized; can reduce inventory allocation</a:t>
                      </a:r>
                    </a:p>
                  </a:txBody>
                  <a:tcPr marL="63500" marR="63500" marT="31750" marB="317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5800" y="533401"/>
          <a:ext cx="7772400" cy="302314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30970">
                <a:tc>
                  <a:txBody>
                    <a:bodyPr/>
                    <a:lstStyle/>
                    <a:p>
                      <a:r>
                        <a:rPr lang="en-US" sz="1700" b="1" dirty="0"/>
                        <a:t>Month (2022)</a:t>
                      </a:r>
                      <a:endParaRPr lang="en-US" sz="1700" dirty="0"/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Dept 1</a:t>
                      </a:r>
                      <a:endParaRPr lang="en-US" sz="1700"/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Dept 2</a:t>
                      </a:r>
                      <a:endParaRPr lang="en-US" sz="1700"/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Dept 3</a:t>
                      </a:r>
                      <a:endParaRPr lang="en-US" sz="1700"/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Key Insight</a:t>
                      </a:r>
                      <a:endParaRPr lang="en-US" sz="1700"/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700" b="1"/>
                        <a:t>Jan–Mar</a:t>
                      </a:r>
                      <a:endParaRPr lang="en-US" sz="1700"/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High but stable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Low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Very low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Early-year stability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700" b="1"/>
                        <a:t>Apr–Jun</a:t>
                      </a:r>
                      <a:endParaRPr lang="en-US" sz="1700"/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Increasing spikes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Slight rise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Low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Workload rising in Dept 1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700" b="1"/>
                        <a:t>Jul–Sep</a:t>
                      </a:r>
                      <a:endParaRPr lang="en-US" sz="1700"/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Highest peaks observed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Slight fluctuations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Low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Department 1 demand surge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27270">
                <a:tc>
                  <a:txBody>
                    <a:bodyPr/>
                    <a:lstStyle/>
                    <a:p>
                      <a:r>
                        <a:rPr lang="en-US" sz="1700" b="1"/>
                        <a:t>Oct–Dec</a:t>
                      </a:r>
                      <a:endParaRPr lang="en-US" sz="1700"/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High but slightly declining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Stable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Low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Demand normalization</a:t>
                      </a:r>
                    </a:p>
                  </a:txBody>
                  <a:tcPr marL="86468" marR="86468" marT="43234" marB="432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3657601"/>
          <a:ext cx="7924800" cy="2895598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  <a:gridCol w="1981200"/>
              </a:tblGrid>
              <a:tr h="314173">
                <a:tc>
                  <a:txBody>
                    <a:bodyPr/>
                    <a:lstStyle/>
                    <a:p>
                      <a:r>
                        <a:rPr lang="en-US" sz="1500" b="1" dirty="0"/>
                        <a:t>Insight Area</a:t>
                      </a:r>
                      <a:endParaRPr lang="en-US" sz="1500" dirty="0"/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Observation</a:t>
                      </a:r>
                      <a:endParaRPr lang="en-US" sz="1500" dirty="0"/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Business Impact</a:t>
                      </a:r>
                      <a:endParaRPr lang="en-US" sz="1500"/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/>
                        <a:t>Recommendation</a:t>
                      </a:r>
                      <a:endParaRPr lang="en-US" sz="1500"/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16561">
                <a:tc>
                  <a:txBody>
                    <a:bodyPr/>
                    <a:lstStyle/>
                    <a:p>
                      <a:r>
                        <a:rPr lang="en-US" sz="1500" b="1"/>
                        <a:t>Demand Concentration</a:t>
                      </a:r>
                      <a:endParaRPr lang="en-US" sz="1500"/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Dept 1 accounts for </a:t>
                      </a:r>
                      <a:r>
                        <a:rPr lang="en-US" sz="1500" b="1"/>
                        <a:t>85–90%</a:t>
                      </a:r>
                      <a:r>
                        <a:rPr lang="en-US" sz="1500"/>
                        <a:t> of total quantity.</a:t>
                      </a:r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High dependency &amp; pressure on one department.</a:t>
                      </a:r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Prioritize stocking, automation, and supply monitoring for Dept 1.</a:t>
                      </a:r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82432">
                <a:tc>
                  <a:txBody>
                    <a:bodyPr/>
                    <a:lstStyle/>
                    <a:p>
                      <a:r>
                        <a:rPr lang="en-US" sz="1500" b="1"/>
                        <a:t>Inter-department Variation</a:t>
                      </a:r>
                      <a:endParaRPr lang="en-US" sz="1500"/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Dept 2 &amp; 3 have minimal contribution.</a:t>
                      </a:r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Potential overstocking risk in smaller departments.</a:t>
                      </a:r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Reduce safety stock for Dept 2 &amp; 3.</a:t>
                      </a:r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82432">
                <a:tc>
                  <a:txBody>
                    <a:bodyPr/>
                    <a:lstStyle/>
                    <a:p>
                      <a:r>
                        <a:rPr lang="en-US" sz="1500" b="1"/>
                        <a:t>Seasonal Trends</a:t>
                      </a:r>
                      <a:endParaRPr lang="en-US" sz="1500"/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Mid-year (Jun–Aug) shows highest spikes.</a:t>
                      </a:r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 err="1"/>
                        <a:t>Stockouts</a:t>
                      </a:r>
                      <a:r>
                        <a:rPr lang="en-US" sz="1500" dirty="0"/>
                        <a:t> risk during peak months.</a:t>
                      </a:r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Increase ordering buffer before peak period.</a:t>
                      </a:r>
                    </a:p>
                  </a:txBody>
                  <a:tcPr marL="78154" marR="78154" marT="39077" marB="390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2276</Words>
  <Application>Microsoft Office PowerPoint</Application>
  <PresentationFormat>On-screen Show (4:3)</PresentationFormat>
  <Paragraphs>428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jmk</dc:creator>
  <cp:lastModifiedBy>jmk</cp:lastModifiedBy>
  <cp:revision>1</cp:revision>
  <dcterms:created xsi:type="dcterms:W3CDTF">2006-08-16T00:00:00Z</dcterms:created>
  <dcterms:modified xsi:type="dcterms:W3CDTF">2025-11-15T17:42:57Z</dcterms:modified>
</cp:coreProperties>
</file>